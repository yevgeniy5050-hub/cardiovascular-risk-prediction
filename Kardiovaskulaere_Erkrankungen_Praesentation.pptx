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9" r:id="rId1"/>
  </p:sldMasterIdLst>
  <p:notesMasterIdLst>
    <p:notesMasterId r:id="rId18"/>
  </p:notesMasterIdLst>
  <p:sldIdLst>
    <p:sldId id="256" r:id="rId2"/>
    <p:sldId id="270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68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24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0F995-C625-45EB-590C-1DFA277C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F09B7-D37C-78F0-81C5-EEB09B4A9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14B038-B4F6-FBAA-4A0B-74150828C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0D6E8-141C-8DD7-6B09-92E7243693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95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80C8-406C-B522-5D60-CEC69D89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C39BCA-84F6-1CE6-45C7-619097BC26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C72304-1AF5-1E55-45F0-532AC0E59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BCC5A-3354-BCC6-62BF-37312FF15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550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B240-130F-189F-F25A-1692E6796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E1A9E-8B8A-4C6D-2D61-078A9C576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B473C-CAE3-E593-621C-CCAA7EFB4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86626-5F68-9B69-CEA2-A2F793E6B4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32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335" y="601724"/>
            <a:ext cx="6477805" cy="1906073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335" y="2648403"/>
            <a:ext cx="6477804" cy="733216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12376" y="246981"/>
            <a:ext cx="3730436" cy="2319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8249" y="599230"/>
            <a:ext cx="608264" cy="377684"/>
          </a:xfrm>
        </p:spPr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813335" y="2646407"/>
            <a:ext cx="647780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0854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3364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0679" y="1317097"/>
            <a:ext cx="6482366" cy="1415963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0679" y="2854647"/>
            <a:ext cx="6472835" cy="759697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90679" y="2853739"/>
            <a:ext cx="647283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393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6913" y="603667"/>
            <a:ext cx="7204226" cy="79447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85498" y="1508159"/>
            <a:ext cx="3483864" cy="258644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10328" y="1513007"/>
            <a:ext cx="3483864" cy="258114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122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5394" y="603123"/>
            <a:ext cx="7205746" cy="79223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5393" y="1514662"/>
            <a:ext cx="3483864" cy="60145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5393" y="2118202"/>
            <a:ext cx="3483864" cy="198334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09272" y="1517253"/>
            <a:ext cx="3483864" cy="60167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65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9272" y="2116119"/>
            <a:ext cx="3483864" cy="197802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7833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404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4991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504" y="599230"/>
            <a:ext cx="2454824" cy="1685338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2785" y="599230"/>
            <a:ext cx="4509353" cy="3494120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3504" y="2404119"/>
            <a:ext cx="2456260" cy="1686136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086210" y="2404118"/>
            <a:ext cx="2452118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14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405" y="847135"/>
            <a:ext cx="4149246" cy="137293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841907"/>
            <a:ext cx="2093378" cy="2899745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747" y="2359494"/>
            <a:ext cx="4143303" cy="1502807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85537" y="4102393"/>
            <a:ext cx="4145513" cy="240092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85537" y="238981"/>
            <a:ext cx="4155753" cy="24069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085537" y="2357704"/>
            <a:ext cx="414551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109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090422" y="1385316"/>
            <a:ext cx="720564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316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79333" y="599230"/>
            <a:ext cx="1211807" cy="3494917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83504" y="599230"/>
            <a:ext cx="5871623" cy="34949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7079333" y="599230"/>
            <a:ext cx="0" cy="3494917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23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152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14607"/>
            <a:ext cx="9144000" cy="3079456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4594860"/>
            <a:ext cx="9144000" cy="55721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88685" y="603390"/>
            <a:ext cx="7202456" cy="7869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8685" y="1511799"/>
            <a:ext cx="7202456" cy="2587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5604" y="247778"/>
            <a:ext cx="2625536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684" y="246981"/>
            <a:ext cx="4454127" cy="231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0046" y="599230"/>
            <a:ext cx="608264" cy="37768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4596310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032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.statista.com/statistik/daten/studie/246048/umfrage/todesfaelle-aufgrund-von-herz-kreislauf-erkrankungen-in-deutschlan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www.destatis.de/DE/Themen/Gesellschaft-Umwelt/Gesundheit/Todesursachen/_inhalt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www.kaggle.com/datasets/sulianova/cardiovascular-disease-dataset?resource=download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lianova/cardiovascular-disease-dataset?resource=download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hyperlink" Target="https://www.destatis.de/DE/Themen/Gesellschaft-Umwelt/Gesundheit/Todesursachen/_inhalt.html" TargetMode="External"/><Relationship Id="rId4" Type="http://schemas.openxmlformats.org/officeDocument/2006/relationships/hyperlink" Target="https://de.statista.com/statistik/daten/studie/246048/umfrage/todesfaelle-aufgrund-von-herz-kreislauf-erkrankungen-in-deutschland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896" y="846894"/>
            <a:ext cx="818045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50"/>
              </a:lnSpc>
              <a:spcAft>
                <a:spcPts val="1500"/>
              </a:spcAft>
              <a:buNone/>
            </a:pPr>
            <a:r>
              <a:rPr lang="en-US" sz="3150" b="1" dirty="0">
                <a:solidFill>
                  <a:schemeClr val="bg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Vorhersage kardiovaskulärer Erkrankungen</a:t>
            </a:r>
            <a:endParaRPr lang="en-US" sz="315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63139" y="1824272"/>
            <a:ext cx="655796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Modellvergleich: Logistische Regression, Random Forest &amp; XGBoost</a:t>
            </a:r>
            <a:endParaRPr lang="en-US" sz="1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8482" y="2555323"/>
            <a:ext cx="818045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45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in der Medizin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6" name="Untertitel 6">
            <a:extLst>
              <a:ext uri="{FF2B5EF4-FFF2-40B4-BE49-F238E27FC236}">
                <a16:creationId xmlns:a16="http://schemas.microsoft.com/office/drawing/2014/main" id="{0E137BFF-9CAC-0AEB-912D-9E812D62EE52}"/>
              </a:ext>
            </a:extLst>
          </p:cNvPr>
          <p:cNvSpPr txBox="1">
            <a:spLocks/>
          </p:cNvSpPr>
          <p:nvPr/>
        </p:nvSpPr>
        <p:spPr>
          <a:xfrm>
            <a:off x="71119" y="4328504"/>
            <a:ext cx="8534400" cy="609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sz="1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Dr. </a:t>
            </a:r>
            <a:r>
              <a:rPr lang="de-DE" sz="14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Gueterding</a:t>
            </a:r>
            <a:r>
              <a:rPr lang="de-DE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Data Science &amp; Machine Learning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102C446-EDEF-6BB1-3B77-B908B12A87DF}"/>
              </a:ext>
            </a:extLst>
          </p:cNvPr>
          <p:cNvSpPr txBox="1"/>
          <p:nvPr/>
        </p:nvSpPr>
        <p:spPr>
          <a:xfrm>
            <a:off x="4047460" y="2924887"/>
            <a:ext cx="32535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Christian Volkert</a:t>
            </a:r>
          </a:p>
          <a:p>
            <a:r>
              <a:rPr lang="de-DE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Yevgeniy Gubov</a:t>
            </a:r>
          </a:p>
        </p:txBody>
      </p:sp>
      <p:pic>
        <p:nvPicPr>
          <p:cNvPr id="9" name="Grafik 8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EC2C2B2B-6554-2F19-75C4-E075C2CFF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D3BBE-5D52-E331-05EC-677A9527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1DE3A85-8CE1-6524-1C9F-9859B16C74BD}"/>
              </a:ext>
            </a:extLst>
          </p:cNvPr>
          <p:cNvSpPr txBox="1"/>
          <p:nvPr/>
        </p:nvSpPr>
        <p:spPr>
          <a:xfrm>
            <a:off x="360507" y="602512"/>
            <a:ext cx="86267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Gliederung: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Einleitung &amp; Motivation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Forschungsfrage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Datenbasis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Datenvorbereitung &amp; Feature Engineering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Methodik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Ergebnisse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/>
              <a:t>Performance-Vergleich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/>
              <a:t>ROC-Kurven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/>
              <a:t>Confusion Matrices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/>
              <a:t>Feature Importance</a:t>
            </a:r>
          </a:p>
          <a:p>
            <a:pPr marL="800100" lvl="1" indent="-342900">
              <a:buFont typeface="+mj-lt"/>
              <a:buAutoNum type="arabicPeriod"/>
            </a:pPr>
            <a:r>
              <a:rPr lang="de-DE" dirty="0"/>
              <a:t>Korrelationsanalyse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Diskussion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Fazit &amp; Beantwortung der Forschungsfrage</a:t>
            </a:r>
          </a:p>
          <a:p>
            <a:endParaRPr lang="de-DE" dirty="0"/>
          </a:p>
          <a:p>
            <a:endParaRPr lang="de-DE" dirty="0"/>
          </a:p>
        </p:txBody>
      </p:sp>
      <p:pic>
        <p:nvPicPr>
          <p:cNvPr id="8" name="Grafik 7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3687DAE1-4E0D-9B96-7CFF-67C7DAC60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31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1. Einleitung &amp; Motivation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432620"/>
            <a:ext cx="3390014" cy="1033462"/>
          </a:xfrm>
          <a:prstGeom prst="roundRect">
            <a:avLst>
              <a:gd name="adj" fmla="val 736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0550" y="1603325"/>
            <a:ext cx="332755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~350.000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90550" y="2121396"/>
            <a:ext cx="33275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latin typeface="Arial" pitchFamily="34" charset="0"/>
                <a:ea typeface="Arial" pitchFamily="34" charset="-122"/>
                <a:cs typeface="Arial" pitchFamily="34" charset="-120"/>
              </a:rPr>
              <a:t>Todesfälle/Jahr in Deutschland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81001" y="2762257"/>
            <a:ext cx="2922180" cy="890432"/>
          </a:xfrm>
          <a:prstGeom prst="roundRect">
            <a:avLst>
              <a:gd name="adj" fmla="val 736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0550" y="2789932"/>
            <a:ext cx="332755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~40%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590550" y="3308003"/>
            <a:ext cx="33275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latin typeface="Arial" pitchFamily="34" charset="0"/>
                <a:ea typeface="Arial" pitchFamily="34" charset="-122"/>
                <a:cs typeface="Arial" pitchFamily="34" charset="-120"/>
              </a:rPr>
              <a:t>aller Todesfälle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1001" y="3881289"/>
            <a:ext cx="2356884" cy="478036"/>
          </a:xfrm>
          <a:prstGeom prst="roundRect">
            <a:avLst>
              <a:gd name="adj" fmla="val 15940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3400" y="4033689"/>
            <a:ext cx="34052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→ häufigste Todesursache weltweit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10063" y="1432620"/>
            <a:ext cx="454199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900"/>
              </a:spcAft>
              <a:buNone/>
            </a:pPr>
            <a:r>
              <a:rPr lang="en-US" sz="12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Warum Machine Learning?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10063" y="1882080"/>
            <a:ext cx="45419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frühzeitige Erkennung:</a:t>
            </a:r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Algorithmen identifizieren Risikopatienten bevor Symptome auftreten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310063" y="2529780"/>
            <a:ext cx="45419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Mustererkennung: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Analyse komplexer Zusammenhänge in großen Datensätzen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10063" y="3177480"/>
            <a:ext cx="45419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Prävention: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Personalisierte Risikoeinschätzung ermöglicht gezielte Maßnahmen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310063" y="3825180"/>
            <a:ext cx="454199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Effizienz:</a:t>
            </a: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Unterstützung klinischer Entscheidungsprozesse</a:t>
            </a:r>
            <a:endParaRPr lang="en-US" sz="1500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CAB5B03-523E-4FC9-897D-D1ECD147CA0B}"/>
              </a:ext>
            </a:extLst>
          </p:cNvPr>
          <p:cNvSpPr txBox="1"/>
          <p:nvPr/>
        </p:nvSpPr>
        <p:spPr>
          <a:xfrm>
            <a:off x="198474" y="4685414"/>
            <a:ext cx="8725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https://de.statista.com/statistik/daten/studie/246048/umfrage/todesfaelle-aufgrund-von-herz-kreislauf-erkrankungen-in-deutschland/</a:t>
            </a:r>
            <a:endParaRPr lang="de-DE" sz="800" dirty="0">
              <a:solidFill>
                <a:schemeClr val="bg1"/>
              </a:solidFill>
            </a:endParaRPr>
          </a:p>
          <a:p>
            <a:r>
              <a:rPr lang="de-DE" sz="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https://www.destatis.de/DE/Themen/Gesellschaft-Umwelt/Gesundheit/Todesursachen/_inhalt.html</a:t>
            </a:r>
            <a:endParaRPr lang="de-DE" sz="800" dirty="0">
              <a:solidFill>
                <a:schemeClr val="bg1"/>
              </a:solidFill>
            </a:endParaRPr>
          </a:p>
          <a:p>
            <a:endParaRPr lang="de-DE" sz="800" dirty="0">
              <a:solidFill>
                <a:schemeClr val="bg1"/>
              </a:solidFill>
            </a:endParaRPr>
          </a:p>
        </p:txBody>
      </p:sp>
      <p:pic>
        <p:nvPicPr>
          <p:cNvPr id="20" name="Grafik 19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3BDDB842-7F3A-C1DA-1683-4271D4BB79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32577" y="285750"/>
            <a:ext cx="4478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2. Forschungsfrage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1500" y="1685925"/>
            <a:ext cx="80010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23916" y="1952624"/>
            <a:ext cx="70728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13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Welches Klassifikationsmodell </a:t>
            </a: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(Logistische Regression, Random Forest oder XGBoost)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erreicht die </a:t>
            </a:r>
            <a:r>
              <a:rPr lang="en-US" sz="12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höchste Performance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bei der Vorhersage kardiovaskulärer Erkrankungen?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1500" y="2990850"/>
            <a:ext cx="8001000" cy="1019175"/>
          </a:xfrm>
          <a:prstGeom prst="roundRect">
            <a:avLst>
              <a:gd name="adj" fmla="val 9346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114647" y="3094074"/>
            <a:ext cx="7371906" cy="918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13"/>
              </a:lnSpc>
              <a:buFont typeface="+mj-lt"/>
              <a:buAutoNum type="arabicPeriod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Wie unterscheiden sich die Modelle in AUC-ROC, </a:t>
            </a:r>
            <a:r>
              <a:rPr lang="de-DE" sz="1200" dirty="0" err="1">
                <a:latin typeface="Arial" panose="020B0604020202020204" pitchFamily="34" charset="0"/>
                <a:cs typeface="Arial" panose="020B0604020202020204" pitchFamily="34" charset="0"/>
              </a:rPr>
              <a:t>Accuracy</a:t>
            </a: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 und F1-Score?</a:t>
            </a:r>
          </a:p>
          <a:p>
            <a:pPr marL="342900" indent="-342900">
              <a:lnSpc>
                <a:spcPts val="1913"/>
              </a:lnSpc>
              <a:buFont typeface="+mj-lt"/>
              <a:buAutoNum type="arabicPeriod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Welche Faktoren (Alter, BMI, Blutdruck, etc.) haben den größten   Einfluss auf die Vorhersage?</a:t>
            </a:r>
          </a:p>
          <a:p>
            <a:pPr marL="342900" indent="-342900">
              <a:lnSpc>
                <a:spcPts val="1913"/>
              </a:lnSpc>
              <a:buFont typeface="+mj-lt"/>
              <a:buAutoNum type="arabicPeriod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Wie interpretierbar sind die Modelle im medizinischen Kontext?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1913"/>
              </a:lnSpc>
            </a:pP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6EAA96DE-50AC-C08E-A0B8-DD2DFCD38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fik 31" descr="Ein Bild, das Electric Blue (Farbe), Kobaltblau enthält.&#10;&#10;KI-generierte Inhalte können fehlerhaft sein.">
            <a:extLst>
              <a:ext uri="{FF2B5EF4-FFF2-40B4-BE49-F238E27FC236}">
                <a16:creationId xmlns:a16="http://schemas.microsoft.com/office/drawing/2014/main" id="{39DB3FF0-BA48-8983-6004-0F9D5CFB1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539" y="152260"/>
            <a:ext cx="2619375" cy="174307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3. Datenbasis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004143"/>
            <a:ext cx="2850356" cy="1085701"/>
          </a:xfrm>
          <a:prstGeom prst="roundRect">
            <a:avLst>
              <a:gd name="adj" fmla="val 7019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6806" y="1194643"/>
            <a:ext cx="2518743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68.500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546806" y="1739354"/>
            <a:ext cx="25187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Patienten (nach Bereinigung)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1000" y="2242245"/>
            <a:ext cx="2850356" cy="876151"/>
          </a:xfrm>
          <a:prstGeom prst="roundRect">
            <a:avLst>
              <a:gd name="adj" fmla="val 8697"/>
            </a:avLst>
          </a:prstGeom>
          <a:solidFill>
            <a:srgbClr val="2D5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07944" y="2394645"/>
            <a:ext cx="25964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07944" y="2806005"/>
            <a:ext cx="2596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3270796"/>
            <a:ext cx="2850356" cy="876151"/>
          </a:xfrm>
          <a:prstGeom prst="roundRect">
            <a:avLst>
              <a:gd name="adj" fmla="val 8697"/>
            </a:avLst>
          </a:prstGeom>
          <a:solidFill>
            <a:srgbClr val="C41E3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07944" y="3423196"/>
            <a:ext cx="259646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07944" y="3834557"/>
            <a:ext cx="25964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Balancierte Zielvariable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1000" y="4299347"/>
            <a:ext cx="2850356" cy="439936"/>
          </a:xfrm>
          <a:prstGeom prst="roundRect">
            <a:avLst>
              <a:gd name="adj" fmla="val 1732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513" y="4432697"/>
            <a:ext cx="26353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Train/Test: 80/20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469481" y="1635472"/>
            <a:ext cx="53993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1125" b="1" dirty="0">
                <a:solidFill>
                  <a:srgbClr val="1E3A5F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Feature-Kategorien</a:t>
            </a:r>
            <a:endParaRPr lang="en-US" sz="1125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69481" y="2035522"/>
            <a:ext cx="2599134" cy="655290"/>
          </a:xfrm>
          <a:prstGeom prst="roundRect">
            <a:avLst>
              <a:gd name="adj" fmla="val 872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02831" y="2168872"/>
            <a:ext cx="23790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DEMOGRAFISCH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02831" y="2386013"/>
            <a:ext cx="2379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Alter, Geschlecht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63866" y="2035522"/>
            <a:ext cx="2599134" cy="655290"/>
          </a:xfrm>
          <a:prstGeom prst="roundRect">
            <a:avLst>
              <a:gd name="adj" fmla="val 872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97216" y="2168872"/>
            <a:ext cx="23790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PHYSIOLOGISCH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7216" y="2386013"/>
            <a:ext cx="2379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Blutdruck (sys/dia), Größe, Gewicht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69481" y="2786063"/>
            <a:ext cx="2599134" cy="655290"/>
          </a:xfrm>
          <a:prstGeom prst="roundRect">
            <a:avLst>
              <a:gd name="adj" fmla="val 872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602831" y="2919413"/>
            <a:ext cx="23790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LABORWERTE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02831" y="3136553"/>
            <a:ext cx="2379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Cholesterin, Glukose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63866" y="2786063"/>
            <a:ext cx="2599134" cy="655290"/>
          </a:xfrm>
          <a:prstGeom prst="roundRect">
            <a:avLst>
              <a:gd name="adj" fmla="val 8721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97216" y="2919413"/>
            <a:ext cx="23790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LEBENSSTIL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97216" y="3136553"/>
            <a:ext cx="2379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Rauchen, Alkohol, Aktivität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469481" y="3669953"/>
            <a:ext cx="5293519" cy="438150"/>
          </a:xfrm>
          <a:prstGeom prst="roundRect">
            <a:avLst>
              <a:gd name="adj" fmla="val 13043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488531" y="3669953"/>
            <a:ext cx="0" cy="43815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640931" y="3803303"/>
            <a:ext cx="50884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Datenbereinigung:</a:t>
            </a: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Entfernung unplausibler Werte (Blutdruck, Größe, Gewicht) und Duplikate</a:t>
            </a:r>
            <a:endParaRPr lang="en-US" sz="900" dirty="0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67F0892F-9403-018A-69F4-5C3B7D5DC3B0}"/>
              </a:ext>
            </a:extLst>
          </p:cNvPr>
          <p:cNvSpPr txBox="1"/>
          <p:nvPr/>
        </p:nvSpPr>
        <p:spPr>
          <a:xfrm>
            <a:off x="209107" y="4847005"/>
            <a:ext cx="8725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https://www.kaggle.com/datasets/sulianova/cardiovascular-disease-dataset?resource=download</a:t>
            </a:r>
            <a:endParaRPr lang="de-DE" sz="800" dirty="0">
              <a:solidFill>
                <a:schemeClr val="bg1"/>
              </a:solidFill>
            </a:endParaRPr>
          </a:p>
        </p:txBody>
      </p:sp>
      <p:pic>
        <p:nvPicPr>
          <p:cNvPr id="34" name="Grafik 33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74688DA5-66DA-F770-A97F-9C4778AD9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2DF36-01B2-2B4E-B280-A221B20FC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A0FAA5-DCF7-8616-44EE-34E9FF6F30ED}"/>
              </a:ext>
            </a:extLst>
          </p:cNvPr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860421-7D33-4C6E-5EEB-7DFC03B231A4}"/>
              </a:ext>
            </a:extLst>
          </p:cNvPr>
          <p:cNvSpPr/>
          <p:nvPr/>
        </p:nvSpPr>
        <p:spPr>
          <a:xfrm>
            <a:off x="381000" y="238125"/>
            <a:ext cx="66010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Datenvorbereitung &amp; Feature Engineering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" name="Grafik 18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846DC7F6-C31A-2ED5-32DF-060235CD4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  <p:sp>
        <p:nvSpPr>
          <p:cNvPr id="20" name="Textfeld 19">
            <a:extLst>
              <a:ext uri="{FF2B5EF4-FFF2-40B4-BE49-F238E27FC236}">
                <a16:creationId xmlns:a16="http://schemas.microsoft.com/office/drawing/2014/main" id="{397D9BB4-B7EF-9A73-3B01-28D461C36AE6}"/>
              </a:ext>
            </a:extLst>
          </p:cNvPr>
          <p:cNvSpPr txBox="1"/>
          <p:nvPr/>
        </p:nvSpPr>
        <p:spPr>
          <a:xfrm>
            <a:off x="268854" y="1084521"/>
            <a:ext cx="86062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neues Feature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					</a:t>
            </a:r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Abgeleitet aus den Original-Features</a:t>
            </a:r>
          </a:p>
          <a:p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Bp_category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						systolischer Blutdruck, diastolischer Blutdruck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BMI									Gewicht, Große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Pulse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Pressure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					Systolischer BD, Diastolischer BD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MAP								Systolischer BD, Diastolischer BD</a:t>
            </a:r>
          </a:p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Risk Score							Cholesterin, Glukose, Rauchen etc.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									(Mehrere Faktoren</a:t>
            </a:r>
          </a:p>
        </p:txBody>
      </p:sp>
    </p:spTree>
    <p:extLst>
      <p:ext uri="{BB962C8B-B14F-4D97-AF65-F5344CB8AC3E}">
        <p14:creationId xmlns:p14="http://schemas.microsoft.com/office/powerpoint/2010/main" val="173700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5. Methodik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 0" descr="/tmp/rasterized-gradient-540d7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98389"/>
            <a:ext cx="2692450" cy="142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3400" y="1550789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Logistische Regression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33400" y="1813620"/>
            <a:ext cx="2435403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Klassisches statistisches Verfahren mit linearer Entscheidungsgrenze. Gut interpretierbar, zeigt Richtung und Stärke des Einflusses einzelner Variablen.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533400" y="2537520"/>
            <a:ext cx="2435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Standardisierte Daten</a:t>
            </a:r>
            <a:endParaRPr lang="en-US" sz="750" dirty="0"/>
          </a:p>
        </p:txBody>
      </p:sp>
      <p:pic>
        <p:nvPicPr>
          <p:cNvPr id="8" name="Image 1" descr="/tmp/rasterized-gradient-5583d9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5850" y="1476970"/>
            <a:ext cx="2692450" cy="12677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8250" y="1629370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378250" y="1892201"/>
            <a:ext cx="243540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aus 200 Entscheidungsbäumen. Bagging-Verfahren reduziert Varianz und führt zu robusten Vorhersagen.</a:t>
            </a:r>
            <a:endParaRPr lang="en-US" sz="825" dirty="0"/>
          </a:p>
        </p:txBody>
      </p:sp>
      <p:sp>
        <p:nvSpPr>
          <p:cNvPr id="11" name="Text 7"/>
          <p:cNvSpPr/>
          <p:nvPr/>
        </p:nvSpPr>
        <p:spPr>
          <a:xfrm>
            <a:off x="3378250" y="2458938"/>
            <a:ext cx="2435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max_depth=15, n=200</a:t>
            </a:r>
            <a:endParaRPr lang="en-US" sz="750" dirty="0"/>
          </a:p>
        </p:txBody>
      </p:sp>
      <p:pic>
        <p:nvPicPr>
          <p:cNvPr id="12" name="Image 2" descr="/tmp/rasterized-gradient-b36ab3c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699" y="1476970"/>
            <a:ext cx="2692450" cy="126771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23099" y="1629370"/>
            <a:ext cx="243540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223099" y="1892201"/>
            <a:ext cx="2435403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Boosting: Bäume werden sequenziell trainiert, jeder korrigiert Fehler der vorherigen. State-of-the-Art Performance.</a:t>
            </a:r>
            <a:endParaRPr lang="en-US" sz="825" dirty="0"/>
          </a:p>
        </p:txBody>
      </p:sp>
      <p:sp>
        <p:nvSpPr>
          <p:cNvPr id="15" name="Text 10"/>
          <p:cNvSpPr/>
          <p:nvPr/>
        </p:nvSpPr>
        <p:spPr>
          <a:xfrm>
            <a:off x="6223099" y="2458938"/>
            <a:ext cx="2435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750"/>
              </a:spcBef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max_depth=6, lr=0.1</a:t>
            </a:r>
            <a:endParaRPr lang="en-US" sz="750" dirty="0"/>
          </a:p>
        </p:txBody>
      </p:sp>
      <p:sp>
        <p:nvSpPr>
          <p:cNvPr id="16" name="Text 11"/>
          <p:cNvSpPr/>
          <p:nvPr/>
        </p:nvSpPr>
        <p:spPr>
          <a:xfrm>
            <a:off x="381000" y="3545384"/>
            <a:ext cx="8382000" cy="885676"/>
          </a:xfrm>
          <a:prstGeom prst="roundRect">
            <a:avLst>
              <a:gd name="adj" fmla="val 860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571500" y="3697784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Evaluationsmetriken</a:t>
            </a:r>
            <a:endParaRPr lang="en-US" sz="975" dirty="0"/>
          </a:p>
        </p:txBody>
      </p:sp>
      <p:sp>
        <p:nvSpPr>
          <p:cNvPr id="18" name="Text 13"/>
          <p:cNvSpPr/>
          <p:nvPr/>
        </p:nvSpPr>
        <p:spPr>
          <a:xfrm>
            <a:off x="563292" y="3966270"/>
            <a:ext cx="8372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563292" y="4145310"/>
            <a:ext cx="8372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Gesamtgenauigkeit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1610615" y="3966270"/>
            <a:ext cx="104775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610615" y="4145310"/>
            <a:ext cx="10477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Vorhersagewert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2872093" y="3966270"/>
            <a:ext cx="46983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2872093" y="4145310"/>
            <a:ext cx="4698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Sensitivität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3557293" y="3966270"/>
            <a:ext cx="88016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557293" y="4145310"/>
            <a:ext cx="88016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Harmonisches Mittel</a:t>
            </a:r>
            <a:endParaRPr lang="en-US" sz="750" dirty="0"/>
          </a:p>
        </p:txBody>
      </p:sp>
      <p:sp>
        <p:nvSpPr>
          <p:cNvPr id="26" name="Text 21"/>
          <p:cNvSpPr/>
          <p:nvPr/>
        </p:nvSpPr>
        <p:spPr>
          <a:xfrm>
            <a:off x="4646840" y="3966270"/>
            <a:ext cx="107993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646840" y="4145310"/>
            <a:ext cx="10799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Diskriminierungsfähigkeit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381000" y="4564410"/>
            <a:ext cx="8382000" cy="388590"/>
          </a:xfrm>
          <a:prstGeom prst="roundRect">
            <a:avLst>
              <a:gd name="adj" fmla="val 19609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4"/>
          <p:cNvSpPr/>
          <p:nvPr/>
        </p:nvSpPr>
        <p:spPr>
          <a:xfrm>
            <a:off x="400050" y="4564410"/>
            <a:ext cx="0" cy="38859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5"/>
          <p:cNvSpPr/>
          <p:nvPr/>
        </p:nvSpPr>
        <p:spPr>
          <a:xfrm>
            <a:off x="609600" y="4678710"/>
            <a:ext cx="81221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Validierung:</a:t>
            </a:r>
            <a:r>
              <a:rPr lang="en-US" sz="900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5-fache stratifizierte Kreuzvalidierung zur Überprüfung der Robustheit</a:t>
            </a:r>
            <a:endParaRPr lang="en-US" sz="900" dirty="0"/>
          </a:p>
        </p:txBody>
      </p:sp>
      <p:pic>
        <p:nvPicPr>
          <p:cNvPr id="31" name="Grafik 30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809572B5-010C-5938-DB88-BCC656D86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50229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6.1 Ergebnisse: Performance-Vergleich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 descr="Ein Bild, das Text, Screenshot, Diagramm, Farbigkeit enthält.&#10;&#10;KI-generierte Inhalte können fehlerhaft sein.">
            <a:extLst>
              <a:ext uri="{FF2B5EF4-FFF2-40B4-BE49-F238E27FC236}">
                <a16:creationId xmlns:a16="http://schemas.microsoft.com/office/drawing/2014/main" id="{5B5AC837-90FB-D3AF-8400-08C4F446F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37756"/>
            <a:ext cx="8408581" cy="4204291"/>
          </a:xfrm>
          <a:prstGeom prst="rect">
            <a:avLst/>
          </a:prstGeom>
        </p:spPr>
      </p:pic>
      <p:pic>
        <p:nvPicPr>
          <p:cNvPr id="7" name="Grafik 6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AC42953D-AF1E-CED5-55B0-F84520235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6.2 Ergebnisse: ROC-Kurven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190A16D1-DAD6-A970-5AD8-CDC86DE33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141" y="604030"/>
            <a:ext cx="4475673" cy="4475673"/>
          </a:xfrm>
          <a:prstGeom prst="rect">
            <a:avLst/>
          </a:prstGeom>
        </p:spPr>
      </p:pic>
      <p:pic>
        <p:nvPicPr>
          <p:cNvPr id="7" name="Grafik 6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C2B85CBD-31BD-E504-8305-3440FE8F2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56628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6.3 Ergebnisse: Confusion Matrices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590D43E-D9E9-9BAC-8A87-0C8C20A3E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87" y="1556458"/>
            <a:ext cx="8831226" cy="2354994"/>
          </a:xfrm>
          <a:prstGeom prst="rect">
            <a:avLst/>
          </a:prstGeom>
        </p:spPr>
      </p:pic>
      <p:pic>
        <p:nvPicPr>
          <p:cNvPr id="7" name="Grafik 6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1BDE47E4-602A-C6CA-01FF-849CE81F1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6051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6.4 Ergebnisse: Feature Importance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 descr="Ein Bild, das Text, Diagramm, Screenshot, Reihe enthält.&#10;&#10;KI-generierte Inhalte können fehlerhaft sein.">
            <a:extLst>
              <a:ext uri="{FF2B5EF4-FFF2-40B4-BE49-F238E27FC236}">
                <a16:creationId xmlns:a16="http://schemas.microsoft.com/office/drawing/2014/main" id="{CF7F2373-3A30-EE3B-2C61-F7821C322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62" y="1072780"/>
            <a:ext cx="8720470" cy="3270176"/>
          </a:xfrm>
          <a:prstGeom prst="rect">
            <a:avLst/>
          </a:prstGeom>
        </p:spPr>
      </p:pic>
      <p:pic>
        <p:nvPicPr>
          <p:cNvPr id="7" name="Grafik 6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09950B2D-E0F1-C27C-EE51-380BF49874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 descr="Ein Bild, das Text, Screenshot, Diagramm, Zahl enthält.&#10;&#10;KI-generierte Inhalte können fehlerhaft sein.">
            <a:extLst>
              <a:ext uri="{FF2B5EF4-FFF2-40B4-BE49-F238E27FC236}">
                <a16:creationId xmlns:a16="http://schemas.microsoft.com/office/drawing/2014/main" id="{FE38753C-5C0D-FEEB-9261-D97623F74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431" y="779943"/>
            <a:ext cx="4950518" cy="4125432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61486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6.5 Ergebnisse: Korrelationsanalyse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C6C0AC4B-306E-2842-D616-B6F480B34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38125"/>
            <a:ext cx="43816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7. Diskussion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1000" y="1713607"/>
            <a:ext cx="2692450" cy="1506736"/>
          </a:xfrm>
          <a:prstGeom prst="roundRect">
            <a:avLst>
              <a:gd name="adj" fmla="val 505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732657"/>
            <a:ext cx="2692450" cy="0"/>
          </a:xfrm>
          <a:prstGeom prst="line">
            <a:avLst/>
          </a:prstGeom>
          <a:noFill/>
          <a:ln w="381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552450" y="1923157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Ähnliche Performance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552450" y="2191643"/>
            <a:ext cx="2396541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geringe Differenz zwischen den Modellen deutet auf weitgehend lineare Zusammenhänge im Datensatz hin. Nichtlineare Interaktionen spielen eine untergeordnete Rolle.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25850" y="1799332"/>
            <a:ext cx="2692450" cy="1335286"/>
          </a:xfrm>
          <a:prstGeom prst="roundRect">
            <a:avLst>
              <a:gd name="adj" fmla="val 570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25850" y="1818382"/>
            <a:ext cx="2692450" cy="0"/>
          </a:xfrm>
          <a:prstGeom prst="line">
            <a:avLst/>
          </a:prstGeom>
          <a:noFill/>
          <a:ln w="38100">
            <a:solidFill>
              <a:srgbClr val="2D5A8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397300" y="2008882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Validierung med. Wissens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397300" y="2277368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Blutdruck, Alter und Cholesterin als Top-Prädiktoren entsprechen dem etablierten medizinischen Kenntnisstand zu kardiovaskulären Risikofaktoren.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70699" y="1799332"/>
            <a:ext cx="2692450" cy="1335286"/>
          </a:xfrm>
          <a:prstGeom prst="roundRect">
            <a:avLst>
              <a:gd name="adj" fmla="val 5707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70699" y="1818382"/>
            <a:ext cx="2692450" cy="0"/>
          </a:xfrm>
          <a:prstGeom prst="line">
            <a:avLst/>
          </a:prstGeom>
          <a:noFill/>
          <a:ln w="38100">
            <a:solidFill>
              <a:srgbClr val="4A7BA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242149" y="2008882"/>
            <a:ext cx="239654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Lebensstilfaktoren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42149" y="2277368"/>
            <a:ext cx="239654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geringe direkte Einfluss von Rauchen/Alkohol könnte darauf hindeuten, dass diese bereits indirekt über physiologische Messungen erfasst werden.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4229100"/>
            <a:ext cx="8382000" cy="676275"/>
          </a:xfrm>
          <a:prstGeom prst="roundRect">
            <a:avLst>
              <a:gd name="adj" fmla="val 11268"/>
            </a:avLst>
          </a:prstGeom>
          <a:solidFill>
            <a:srgbClr val="FFF3E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4229100"/>
            <a:ext cx="0" cy="676275"/>
          </a:xfrm>
          <a:prstGeom prst="line">
            <a:avLst/>
          </a:prstGeom>
          <a:noFill/>
          <a:ln w="381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09600" y="4381500"/>
            <a:ext cx="812215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Limitation:</a:t>
            </a:r>
            <a:r>
              <a:rPr lang="en-US" sz="975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75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Gesamtaccuracy von ~73% ist für klinische Anwendungen begrenzt aussagekräftig. Fehlende Faktoren (Genetik, detaillierte Laborwerte) könnten die Vorhersagekraft verbessern.</a:t>
            </a:r>
            <a:endParaRPr lang="en-US" sz="975" dirty="0"/>
          </a:p>
        </p:txBody>
      </p:sp>
      <p:pic>
        <p:nvPicPr>
          <p:cNvPr id="19" name="Grafik 18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1FB3FAF6-7C5E-522F-B09F-CE06AD4E9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6760" y="285750"/>
            <a:ext cx="61304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8. Fazit &amp; Beantwortung der Forschungsfrage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6250" y="1623120"/>
            <a:ext cx="4000500" cy="1621036"/>
          </a:xfrm>
          <a:prstGeom prst="roundRect">
            <a:avLst>
              <a:gd name="adj" fmla="val 587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981423" y="1748805"/>
            <a:ext cx="137846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bestes</a:t>
            </a: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Modell: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2127944"/>
            <a:ext cx="3653028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C41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76250" y="2663130"/>
            <a:ext cx="3862578" cy="514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ROC-AUC: </a:t>
            </a:r>
            <a:r>
              <a:rPr lang="en-US" sz="9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79,8%</a:t>
            </a:r>
            <a:endParaRPr lang="en-US" sz="975" dirty="0"/>
          </a:p>
          <a:p>
            <a:pPr marL="0" indent="0" algn="ctr">
              <a:lnSpc>
                <a:spcPts val="1463"/>
              </a:lnSpc>
              <a:buNone/>
            </a:pPr>
            <a:r>
              <a:rPr lang="en-US" sz="975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Accuracy: </a:t>
            </a:r>
            <a:r>
              <a:rPr lang="en-US" sz="975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73,2%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4686300" y="1748805"/>
            <a:ext cx="4000500" cy="1302990"/>
          </a:xfrm>
          <a:prstGeom prst="roundRect">
            <a:avLst>
              <a:gd name="adj" fmla="val 73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38824" y="1938338"/>
            <a:ext cx="129868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 err="1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wichtigste</a:t>
            </a: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Faktoren: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76800" y="2273648"/>
            <a:ext cx="36530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750"/>
              </a:spcBef>
              <a:buNone/>
            </a:pPr>
            <a:r>
              <a:rPr lang="en-US" sz="9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Konsistent von allen drei Modellen als Top-Prädiktoren identifiziert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0550" y="3686928"/>
            <a:ext cx="8191500" cy="723900"/>
          </a:xfrm>
          <a:prstGeom prst="roundRect">
            <a:avLst>
              <a:gd name="adj" fmla="val 10526"/>
            </a:avLst>
          </a:prstGeom>
          <a:solidFill>
            <a:srgbClr val="FFFFFF">
              <a:alpha val="15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3876676"/>
            <a:ext cx="78695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praktische</a:t>
            </a:r>
            <a:r>
              <a:rPr lang="en-US" sz="10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Implikation:</a:t>
            </a: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 Ein Screening mit Fokus auf Blutdruck, Alter und Cholesterin bietet eine solide Basis für die Risikoeinschätzung kardiovaskulärer Erkrankungen.</a:t>
            </a:r>
            <a:endParaRPr lang="en-US" sz="1050" dirty="0"/>
          </a:p>
        </p:txBody>
      </p:sp>
      <p:pic>
        <p:nvPicPr>
          <p:cNvPr id="12" name="Grafik 11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3567270E-5B23-04C1-8774-FFE31A63E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8E624-1988-B381-105C-E6C8E33D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2C6FF1-B2AF-A7C9-3708-1A41D73D425B}"/>
              </a:ext>
            </a:extLst>
          </p:cNvPr>
          <p:cNvSpPr/>
          <p:nvPr/>
        </p:nvSpPr>
        <p:spPr>
          <a:xfrm>
            <a:off x="1506760" y="285750"/>
            <a:ext cx="613048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Fazit &amp; Beantwortung der Forschungsfrage</a:t>
            </a:r>
            <a:endParaRPr lang="en-US" sz="2400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6E07E63-7761-12B4-AFF2-8DD8197A75EE}"/>
              </a:ext>
            </a:extLst>
          </p:cNvPr>
          <p:cNvSpPr txBox="1"/>
          <p:nvPr/>
        </p:nvSpPr>
        <p:spPr>
          <a:xfrm>
            <a:off x="155944" y="388531"/>
            <a:ext cx="8832111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Quellen</a:t>
            </a:r>
            <a:r>
              <a:rPr lang="de-DE" sz="1200" dirty="0"/>
              <a:t>:</a:t>
            </a:r>
          </a:p>
          <a:p>
            <a:r>
              <a:rPr lang="de-DE" sz="1050" dirty="0">
                <a:hlinkClick r:id="rId3"/>
              </a:rPr>
              <a:t>https://www.kaggle.com/datasets/sulianova/cardiovascular-disease-dataset?resource=download</a:t>
            </a:r>
            <a:r>
              <a:rPr lang="de-DE" sz="1050" dirty="0"/>
              <a:t>  Datensatz</a:t>
            </a:r>
          </a:p>
          <a:p>
            <a:r>
              <a:rPr lang="de-DE" sz="1050" dirty="0">
                <a:hlinkClick r:id="rId4"/>
              </a:rPr>
              <a:t>https://de.statista.com/statistik/daten/studie/246048/umfrage/todesfaelle-aufgrund-von-herz-kreislauf-erkrankungen-in-deutschland/</a:t>
            </a:r>
            <a:r>
              <a:rPr lang="de-DE" sz="1050" dirty="0"/>
              <a:t>  </a:t>
            </a:r>
            <a:r>
              <a:rPr lang="de-DE" sz="1050" b="1" dirty="0"/>
              <a:t>Statista / GBE-Bund:</a:t>
            </a:r>
            <a:r>
              <a:rPr lang="de-DE" sz="1050" dirty="0"/>
              <a:t> Todesfälle aufgrund von Herz-Kreislauf-Erkrankungen in Deutschland 2023.</a:t>
            </a:r>
          </a:p>
          <a:p>
            <a:r>
              <a:rPr lang="de-DE" sz="1050" dirty="0">
                <a:hlinkClick r:id="rId5"/>
              </a:rPr>
              <a:t>https://www.destatis.de/DE/Themen/Gesellschaft-Umwelt/Gesundheit/Todesursachen/_inhalt.html</a:t>
            </a:r>
            <a:r>
              <a:rPr lang="de-DE" sz="1050" dirty="0"/>
              <a:t> </a:t>
            </a:r>
            <a:r>
              <a:rPr lang="de-DE" sz="1050" b="1" dirty="0"/>
              <a:t>Statistisches Bundesamt (Destatis):</a:t>
            </a:r>
            <a:r>
              <a:rPr lang="de-DE" sz="1050" dirty="0"/>
              <a:t> Todesursachenstatistik 2023, Pressemitteilung vom 19. August 2024</a:t>
            </a:r>
          </a:p>
          <a:p>
            <a:endParaRPr lang="de-DE" dirty="0"/>
          </a:p>
        </p:txBody>
      </p:sp>
      <p:pic>
        <p:nvPicPr>
          <p:cNvPr id="13" name="Grafik 12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5686E852-FF2B-75E6-5AD1-419649C3DD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110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1517" y="1797261"/>
            <a:ext cx="5517096" cy="12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Vielen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 Dank</a:t>
            </a:r>
          </a:p>
          <a:p>
            <a:pPr marL="0" indent="0" algn="ctr">
              <a:lnSpc>
                <a:spcPts val="3600"/>
              </a:lnSpc>
              <a:spcAft>
                <a:spcPts val="1500"/>
              </a:spcAft>
              <a:buNone/>
            </a:pP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Für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Ihre</a:t>
            </a:r>
            <a:r>
              <a:rPr lang="en-US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Aufmerksamkeit</a:t>
            </a:r>
            <a:endParaRPr lang="en-US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 descr="Ein Bild, das Text, Screenshot, Schrift, Grafiken enthält.&#10;&#10;KI-generierte Inhalte können fehlerhaft sein.">
            <a:extLst>
              <a:ext uri="{FF2B5EF4-FFF2-40B4-BE49-F238E27FC236}">
                <a16:creationId xmlns:a16="http://schemas.microsoft.com/office/drawing/2014/main" id="{F30A40A3-3282-8720-0615-7DDE44BCF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912" y="92579"/>
            <a:ext cx="1932379" cy="5099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Katalog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Katalog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talog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787</Words>
  <Application>Microsoft Office PowerPoint</Application>
  <PresentationFormat>Bildschirmpräsentation (16:9)</PresentationFormat>
  <Paragraphs>133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Arial</vt:lpstr>
      <vt:lpstr>Georgia</vt:lpstr>
      <vt:lpstr>Gill Sans MT</vt:lpstr>
      <vt:lpstr>Katalog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Vorhersage kardiovaskulärer Erkrankungen</dc:title>
  <dc:subject>PptxGenJS Presentation</dc:subject>
  <dc:creator>Machine Learning Analyse</dc:creator>
  <cp:lastModifiedBy>Yevgeniy Gubov</cp:lastModifiedBy>
  <cp:revision>12</cp:revision>
  <dcterms:created xsi:type="dcterms:W3CDTF">2025-12-07T13:26:02Z</dcterms:created>
  <dcterms:modified xsi:type="dcterms:W3CDTF">2025-12-14T10:59:13Z</dcterms:modified>
</cp:coreProperties>
</file>